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8" r:id="rId16"/>
    <p:sldId id="269" r:id="rId17"/>
    <p:sldId id="270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Feature Extraction &amp;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/>
              <a:t>Prepared by: Neha Pradhan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NEXTHIKES IT SOLUTIONS</a:t>
            </a:r>
          </a:p>
          <a:p>
            <a:pPr marL="0" indent="0" algn="ctr">
              <a:buNone/>
            </a:pPr>
            <a:r>
              <a:rPr lang="en-IN" dirty="0"/>
              <a:t>PROJECT 4</a:t>
            </a:r>
          </a:p>
          <a:p>
            <a:pPr marL="0" indent="0" algn="ctr">
              <a:buNone/>
            </a:pPr>
            <a:r>
              <a:rPr lang="en-IN" dirty="0"/>
              <a:t>DATE= 14</a:t>
            </a:r>
            <a:r>
              <a:rPr lang="en-IN" baseline="30000" dirty="0"/>
              <a:t>TH</a:t>
            </a:r>
            <a:r>
              <a:rPr lang="en-IN" dirty="0"/>
              <a:t> NOVEMBER 2025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Organisation is keen</a:t>
            </a:r>
            <a:r>
              <a:rPr dirty="0"/>
              <a:t> to understand </a:t>
            </a:r>
            <a:r>
              <a:rPr dirty="0" err="1"/>
              <a:t>wh</a:t>
            </a:r>
            <a:r>
              <a:rPr lang="en-IN" dirty="0"/>
              <a:t>at are the</a:t>
            </a:r>
            <a:r>
              <a:rPr dirty="0"/>
              <a:t> factors </a:t>
            </a:r>
            <a:r>
              <a:rPr lang="en-IN" dirty="0"/>
              <a:t>that influences the</a:t>
            </a:r>
            <a:r>
              <a:rPr dirty="0"/>
              <a:t> mobile phone prices.</a:t>
            </a:r>
          </a:p>
          <a:p>
            <a:endParaRPr dirty="0"/>
          </a:p>
          <a:p>
            <a:r>
              <a:rPr dirty="0"/>
              <a:t>By identifying these f</a:t>
            </a:r>
            <a:r>
              <a:rPr lang="en-IN" dirty="0"/>
              <a:t>actors</a:t>
            </a:r>
            <a:r>
              <a:rPr dirty="0"/>
              <a:t>, </a:t>
            </a:r>
            <a:r>
              <a:rPr lang="en-IN" dirty="0"/>
              <a:t>they</a:t>
            </a:r>
            <a:r>
              <a:rPr dirty="0"/>
              <a:t> can improve pricing, marketing, and product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includes:</a:t>
            </a:r>
          </a:p>
          <a:p>
            <a:r>
              <a:rPr dirty="0"/>
              <a:t>Model, Colour, Memory, RAM, Battery, Cameras, AI Lens, Mobile Height, Processor, Prize.</a:t>
            </a:r>
          </a:p>
          <a:p>
            <a:endParaRPr dirty="0"/>
          </a:p>
          <a:p>
            <a:r>
              <a:rPr dirty="0"/>
              <a:t>These specifications are used to predict selling pri</a:t>
            </a:r>
            <a:r>
              <a:rPr lang="en-IN" dirty="0"/>
              <a:t>z</a:t>
            </a:r>
            <a:r>
              <a:rPr dirty="0"/>
              <a:t>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Steps performed:</a:t>
            </a:r>
            <a:endParaRPr lang="en-IN" dirty="0"/>
          </a:p>
          <a:p>
            <a:pPr marL="0" indent="0">
              <a:buNone/>
            </a:pPr>
            <a:r>
              <a:rPr dirty="0"/>
              <a:t>• Removed currency symbols</a:t>
            </a:r>
            <a:endParaRPr lang="en-IN" dirty="0"/>
          </a:p>
          <a:p>
            <a:pPr marL="0" indent="0">
              <a:buNone/>
            </a:pPr>
            <a:r>
              <a:rPr dirty="0"/>
              <a:t>• Cleaned processor names</a:t>
            </a:r>
            <a:endParaRPr lang="en-IN" dirty="0"/>
          </a:p>
          <a:p>
            <a:pPr marL="0" indent="0">
              <a:buNone/>
            </a:pPr>
            <a:r>
              <a:rPr dirty="0"/>
              <a:t>• Fixed data types</a:t>
            </a:r>
            <a:endParaRPr lang="en-IN" dirty="0"/>
          </a:p>
          <a:p>
            <a:pPr marL="0" indent="0">
              <a:buNone/>
            </a:pPr>
            <a:r>
              <a:rPr dirty="0"/>
              <a:t>• Removed duplicates</a:t>
            </a:r>
            <a:endParaRPr lang="en-IN" dirty="0"/>
          </a:p>
          <a:p>
            <a:pPr marL="0" indent="0">
              <a:buNone/>
            </a:pPr>
            <a:r>
              <a:rPr dirty="0"/>
              <a:t>• Handled missing values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</a:t>
            </a:r>
            <a:r>
              <a:rPr dirty="0"/>
              <a:t>Clean data ensures accurate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Categorical columns encoded</a:t>
            </a:r>
          </a:p>
          <a:p>
            <a:pPr marL="0" indent="0">
              <a:buNone/>
            </a:pPr>
            <a:r>
              <a:rPr dirty="0"/>
              <a:t>• Numerical columns standardized</a:t>
            </a:r>
          </a:p>
          <a:p>
            <a:pPr marL="0" indent="0">
              <a:buNone/>
            </a:pPr>
            <a:r>
              <a:rPr dirty="0"/>
              <a:t>• Target variable binned for tests</a:t>
            </a:r>
          </a:p>
          <a:p>
            <a:pPr marL="0" indent="0">
              <a:buNone/>
            </a:pPr>
            <a:r>
              <a:rPr dirty="0"/>
              <a:t>• Data prepared for modeling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Proper preprocessing </a:t>
            </a:r>
            <a:r>
              <a:rPr lang="en-IN" dirty="0"/>
              <a:t> helps to </a:t>
            </a:r>
            <a:r>
              <a:rPr dirty="0"/>
              <a:t>boost model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Methods used:</a:t>
            </a:r>
          </a:p>
          <a:p>
            <a:pPr marL="0" indent="0">
              <a:buNone/>
            </a:pPr>
            <a:r>
              <a:rPr dirty="0"/>
              <a:t>• Correlation Analysis</a:t>
            </a:r>
          </a:p>
          <a:p>
            <a:pPr marL="0" indent="0">
              <a:buNone/>
            </a:pPr>
            <a:r>
              <a:rPr dirty="0"/>
              <a:t>• Chi-Square Test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SelectKBest</a:t>
            </a:r>
            <a:endParaRPr dirty="0"/>
          </a:p>
          <a:p>
            <a:pPr marL="0" indent="0">
              <a:buNone/>
            </a:pPr>
            <a:r>
              <a:rPr dirty="0"/>
              <a:t>• RFE</a:t>
            </a:r>
          </a:p>
          <a:p>
            <a:pPr marL="0" indent="0">
              <a:buNone/>
            </a:pPr>
            <a:r>
              <a:rPr dirty="0"/>
              <a:t>• Random Forest Importance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dirty="0"/>
              <a:t>Multiple techniques improve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Correlation results show</a:t>
            </a:r>
            <a:r>
              <a:rPr lang="en-IN" dirty="0"/>
              <a:t>s that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RAM, Memory, Cameras strongly influence pri</a:t>
            </a:r>
            <a:r>
              <a:rPr lang="en-IN" dirty="0"/>
              <a:t>z</a:t>
            </a:r>
            <a:r>
              <a:rPr dirty="0"/>
              <a:t>e</a:t>
            </a:r>
            <a:r>
              <a:rPr lang="en-IN" dirty="0"/>
              <a:t> of the Mobile 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Processor &amp; Height moderately influence </a:t>
            </a:r>
            <a:r>
              <a:rPr lang="en-IN" dirty="0"/>
              <a:t>P</a:t>
            </a:r>
            <a:r>
              <a:rPr dirty="0" err="1"/>
              <a:t>ri</a:t>
            </a:r>
            <a:r>
              <a:rPr lang="en-IN" dirty="0"/>
              <a:t>ze of the mobile 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Heatmap</a:t>
            </a:r>
            <a:r>
              <a:rPr lang="en-IN" dirty="0"/>
              <a:t>is used to</a:t>
            </a:r>
            <a:r>
              <a:rPr dirty="0"/>
              <a:t> help visualize these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&amp; SelectKBest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Chi-square</a:t>
            </a:r>
            <a:r>
              <a:rPr lang="en-IN" dirty="0"/>
              <a:t> helps to</a:t>
            </a:r>
            <a:r>
              <a:rPr dirty="0"/>
              <a:t> identify significant categorical features:</a:t>
            </a:r>
            <a:endParaRPr lang="en-IN" dirty="0"/>
          </a:p>
          <a:p>
            <a:r>
              <a:rPr dirty="0"/>
              <a:t> Model, Colour, Processor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SelectKBest </a:t>
            </a:r>
            <a:r>
              <a:rPr lang="en-IN" dirty="0"/>
              <a:t>helped to </a:t>
            </a:r>
            <a:r>
              <a:rPr dirty="0"/>
              <a:t>highlight</a:t>
            </a:r>
            <a:r>
              <a:rPr lang="en-IN" dirty="0"/>
              <a:t> that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RAM, Memory, Cameras, Battery </a:t>
            </a:r>
            <a:r>
              <a:rPr lang="en-IN" dirty="0"/>
              <a:t>plays an important role in predicting</a:t>
            </a:r>
            <a:r>
              <a:rPr dirty="0"/>
              <a:t> </a:t>
            </a:r>
            <a:r>
              <a:rPr lang="en-IN" dirty="0"/>
              <a:t>the mobile phone price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Recursive Feature Elimination(</a:t>
            </a:r>
            <a:r>
              <a:rPr dirty="0"/>
              <a:t>RFE</a:t>
            </a:r>
            <a:r>
              <a:rPr lang="en-IN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it is a technique used to </a:t>
            </a:r>
            <a:r>
              <a:rPr lang="en-IN" b="1" dirty="0"/>
              <a:t>select the most important features</a:t>
            </a:r>
            <a:r>
              <a:rPr lang="en-IN" dirty="0"/>
              <a:t> for a predictive model. It shows that below features contribute most to price variations :</a:t>
            </a:r>
          </a:p>
          <a:p>
            <a:r>
              <a:rPr dirty="0"/>
              <a:t>RAM</a:t>
            </a:r>
            <a:endParaRPr lang="en-IN" dirty="0"/>
          </a:p>
          <a:p>
            <a:r>
              <a:rPr dirty="0"/>
              <a:t>Memory</a:t>
            </a:r>
            <a:endParaRPr lang="en-IN" dirty="0"/>
          </a:p>
          <a:p>
            <a:r>
              <a:rPr dirty="0"/>
              <a:t>Rear &amp; Front Cameras</a:t>
            </a:r>
            <a:endParaRPr lang="en-IN" dirty="0"/>
          </a:p>
          <a:p>
            <a:r>
              <a:rPr dirty="0"/>
              <a:t>Processor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 have split Data into two halves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80% training</a:t>
            </a:r>
          </a:p>
          <a:p>
            <a:pPr marL="0" indent="0">
              <a:buNone/>
            </a:pPr>
            <a:r>
              <a:rPr dirty="0"/>
              <a:t>• 20% testing</a:t>
            </a:r>
          </a:p>
          <a:p>
            <a:endParaRPr dirty="0"/>
          </a:p>
          <a:p>
            <a:pPr marL="0" indent="0">
              <a:buNone/>
            </a:pPr>
            <a:r>
              <a:rPr lang="en-IN" dirty="0"/>
              <a:t>It helps to ensure that </a:t>
            </a:r>
            <a:r>
              <a:rPr dirty="0"/>
              <a:t>the model learns patterns while being evaluated on unseen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 have used </a:t>
            </a:r>
            <a:r>
              <a:rPr dirty="0"/>
              <a:t>Random Forest </a:t>
            </a:r>
            <a:r>
              <a:rPr lang="en-IN" dirty="0"/>
              <a:t>Model </a:t>
            </a:r>
            <a:r>
              <a:rPr dirty="0"/>
              <a:t>because it:</a:t>
            </a:r>
          </a:p>
          <a:p>
            <a:pPr marL="0" indent="0">
              <a:buNone/>
            </a:pPr>
            <a:r>
              <a:rPr dirty="0"/>
              <a:t>• Handles non-linearity</a:t>
            </a:r>
          </a:p>
          <a:p>
            <a:pPr marL="0" indent="0">
              <a:buNone/>
            </a:pPr>
            <a:r>
              <a:rPr dirty="0"/>
              <a:t>• Avoids overfitting</a:t>
            </a:r>
          </a:p>
          <a:p>
            <a:pPr marL="0" indent="0">
              <a:buNone/>
            </a:pPr>
            <a:r>
              <a:rPr dirty="0"/>
              <a:t>• Works with mixed data types</a:t>
            </a:r>
          </a:p>
          <a:p>
            <a:pPr marL="0" indent="0">
              <a:buNone/>
            </a:pPr>
            <a:r>
              <a:rPr dirty="0"/>
              <a:t>• Provides feature importance rankings.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Performance metrics:</a:t>
            </a:r>
          </a:p>
          <a:p>
            <a:pPr marL="0" indent="0">
              <a:buNone/>
            </a:pPr>
            <a:r>
              <a:rPr dirty="0"/>
              <a:t>• MAE: (</a:t>
            </a:r>
            <a:r>
              <a:rPr lang="en-IN" dirty="0"/>
              <a:t>1785.77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RMSE: (</a:t>
            </a:r>
            <a:r>
              <a:rPr lang="en-IN" dirty="0"/>
              <a:t>4707.15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R² Score: (</a:t>
            </a:r>
            <a:r>
              <a:rPr lang="en-IN" dirty="0"/>
              <a:t>0.839</a:t>
            </a:r>
            <a:r>
              <a:rPr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dirty="0"/>
              <a:t>Lower error means better prediction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FCD0-33DA-3AEF-5748-7236A051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EXPLANATION OF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FBF46-5AD9-2B8B-DBDE-C9BCE5B41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model achieved an </a:t>
            </a:r>
            <a:r>
              <a:rPr lang="en-IN" b="1" dirty="0"/>
              <a:t>MAE of 1785.77</a:t>
            </a:r>
            <a:r>
              <a:rPr lang="en-IN" dirty="0"/>
              <a:t>, meaning the predicted price differs from the actual price by an average of about </a:t>
            </a:r>
            <a:r>
              <a:rPr lang="en-IN" b="1" dirty="0"/>
              <a:t>₹1,785</a:t>
            </a:r>
            <a:r>
              <a:rPr lang="en-IN" dirty="0"/>
              <a:t>, which is a small error considering the price range of mobile phones. The </a:t>
            </a:r>
            <a:r>
              <a:rPr lang="en-IN" b="1" dirty="0"/>
              <a:t>RMSE of 4707.15</a:t>
            </a:r>
            <a:r>
              <a:rPr lang="en-IN" dirty="0"/>
              <a:t> shows the spread of prediction errors, with lower values indicating better accuracy. Although RMSE is higher than MAE, it is still acceptable for real-world price prediction where phone prices vary widely.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79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6C9293-1C82-210E-6141-1AC2153C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FAC656-F3B5-E689-62D2-FC0AF877E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08986"/>
          </a:xfrm>
        </p:spPr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b="1" dirty="0"/>
              <a:t>R² score of 0.839</a:t>
            </a:r>
            <a:r>
              <a:rPr lang="en-IN" dirty="0"/>
              <a:t> means the model explains </a:t>
            </a:r>
            <a:r>
              <a:rPr lang="en-IN" b="1" dirty="0"/>
              <a:t>83.9% of the variation</a:t>
            </a:r>
            <a:r>
              <a:rPr lang="en-IN" dirty="0"/>
              <a:t> in mobile phone prices, showing a strong fit to the data. Overall, the combination of low MAE, reasonable RMSE, and high R² score indicates that the Random Forest model predicts mobile phone prices accurately and performs reliably</a:t>
            </a:r>
          </a:p>
        </p:txBody>
      </p:sp>
    </p:spTree>
    <p:extLst>
      <p:ext uri="{BB962C8B-B14F-4D97-AF65-F5344CB8AC3E}">
        <p14:creationId xmlns:p14="http://schemas.microsoft.com/office/powerpoint/2010/main" val="156330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Top features influencing price:</a:t>
            </a:r>
          </a:p>
          <a:p>
            <a:pPr marL="0" indent="0">
              <a:buNone/>
            </a:pPr>
            <a:r>
              <a:rPr dirty="0"/>
              <a:t>• RAM</a:t>
            </a:r>
          </a:p>
          <a:p>
            <a:pPr marL="0" indent="0">
              <a:buNone/>
            </a:pPr>
            <a:r>
              <a:rPr dirty="0"/>
              <a:t>• Memory</a:t>
            </a:r>
          </a:p>
          <a:p>
            <a:pPr marL="0" indent="0">
              <a:buNone/>
            </a:pPr>
            <a:r>
              <a:rPr dirty="0"/>
              <a:t>• Cameras</a:t>
            </a:r>
          </a:p>
          <a:p>
            <a:pPr marL="0" indent="0">
              <a:buNone/>
            </a:pPr>
            <a:r>
              <a:rPr dirty="0"/>
              <a:t>• Processor</a:t>
            </a:r>
          </a:p>
          <a:p>
            <a:pPr marL="0" indent="0">
              <a:buNone/>
            </a:pPr>
            <a:r>
              <a:rPr dirty="0"/>
              <a:t>• Battery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These </a:t>
            </a:r>
            <a:r>
              <a:rPr lang="en-IN" dirty="0"/>
              <a:t>features influences the</a:t>
            </a:r>
            <a:r>
              <a:rPr dirty="0"/>
              <a:t> pricing decisions in mobile markets.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RAM &amp; Memory impact pricing most</a:t>
            </a:r>
          </a:p>
          <a:p>
            <a:pPr marL="0" indent="0">
              <a:buNone/>
            </a:pPr>
            <a:r>
              <a:rPr dirty="0"/>
              <a:t>• Camera quality raises price</a:t>
            </a:r>
          </a:p>
          <a:p>
            <a:pPr marL="0" indent="0">
              <a:buNone/>
            </a:pPr>
            <a:r>
              <a:rPr dirty="0"/>
              <a:t>• Processor type influences premium models</a:t>
            </a:r>
          </a:p>
          <a:p>
            <a:pPr marL="0" indent="0">
              <a:buNone/>
            </a:pPr>
            <a:r>
              <a:rPr dirty="0"/>
              <a:t>• Battery has moderate effect</a:t>
            </a:r>
          </a:p>
          <a:p>
            <a:pPr marL="0" indent="0">
              <a:buNone/>
            </a:pPr>
            <a:r>
              <a:rPr dirty="0"/>
              <a:t>• Colour has mild effect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It is recommended for an organisation to prioritise the key features that significantly influence mobile phone prices—particularly </a:t>
            </a:r>
            <a:r>
              <a:rPr lang="en-IN" b="1" dirty="0"/>
              <a:t>RAM, Memory, Camera quality, and Processor</a:t>
            </a:r>
            <a:r>
              <a:rPr lang="en-IN" dirty="0"/>
              <a:t>. These specifications strongly impact customer value and should guide product design and pricing decisions.</a:t>
            </a:r>
          </a:p>
          <a:p>
            <a:r>
              <a:rPr lang="en-IN" dirty="0"/>
              <a:t>It is also recommended for an organisation to highlight these high-impact features in marketing strategies while reserving premium processors and camera setups for higher-end models. Budget models can focus on lower-impact features to reduce cost without affecting market appeal.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1542-C2B9-B68F-A9F5-339A6788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6499A-5827-A7AA-A289-D89C4C449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This project reveals that technical specifications—especially RAM, Memory, Camera quality, and Processor—play a major role in determining mobile phone prices. With an 83.9% prediction accuracy, the Random Forest model offers a reliable framework for forecasting prices. These findings can guide the company in designing better pricing strategies and focusing on features that influence customer perception and market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20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754</Words>
  <Application>Microsoft Office PowerPoint</Application>
  <PresentationFormat>On-screen Show 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Feature Extraction &amp; Price Prediction</vt:lpstr>
      <vt:lpstr>Problem Statement</vt:lpstr>
      <vt:lpstr>Dataset Overview</vt:lpstr>
      <vt:lpstr>Data Cleaning</vt:lpstr>
      <vt:lpstr>Data Preprocessing</vt:lpstr>
      <vt:lpstr>Feature Extraction Techniques</vt:lpstr>
      <vt:lpstr>Correlation Insights</vt:lpstr>
      <vt:lpstr>Chi-Square &amp; SelectKBest</vt:lpstr>
      <vt:lpstr>Recursive Feature Elimination(RFE)</vt:lpstr>
      <vt:lpstr>Train-Test Split</vt:lpstr>
      <vt:lpstr> Random Forest</vt:lpstr>
      <vt:lpstr>Model Performance</vt:lpstr>
      <vt:lpstr>EXPLANATION OF MODEL PERFORMANCE</vt:lpstr>
      <vt:lpstr>PowerPoint Presentation</vt:lpstr>
      <vt:lpstr>Feature Importance</vt:lpstr>
      <vt:lpstr>FINDINGS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Neha Pradhan</cp:lastModifiedBy>
  <cp:revision>2</cp:revision>
  <dcterms:created xsi:type="dcterms:W3CDTF">2013-01-27T09:14:16Z</dcterms:created>
  <dcterms:modified xsi:type="dcterms:W3CDTF">2025-11-14T11:10:22Z</dcterms:modified>
  <cp:category/>
</cp:coreProperties>
</file>